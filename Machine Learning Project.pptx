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7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F0CB53-DAE1-4C5D-A65A-03646B27B56A}" v="7" dt="2026-04-22T21:09:38.4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16" d="100"/>
          <a:sy n="16" d="100"/>
        </p:scale>
        <p:origin x="956" y="-1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acham,Cael B" userId="16dd6ec1-4b40-411d-9cd4-ff5e0ad23b8f" providerId="ADAL" clId="{55D0694B-4293-4172-A9D5-12908D914722}"/>
    <pc:docChg chg="undo custSel modSld">
      <pc:chgData name="Meacham,Cael B" userId="16dd6ec1-4b40-411d-9cd4-ff5e0ad23b8f" providerId="ADAL" clId="{55D0694B-4293-4172-A9D5-12908D914722}" dt="2026-04-22T21:10:33.140" v="392" actId="14100"/>
      <pc:docMkLst>
        <pc:docMk/>
      </pc:docMkLst>
      <pc:sldChg chg="addSp delSp modSp mod">
        <pc:chgData name="Meacham,Cael B" userId="16dd6ec1-4b40-411d-9cd4-ff5e0ad23b8f" providerId="ADAL" clId="{55D0694B-4293-4172-A9D5-12908D914722}" dt="2026-04-22T21:10:33.140" v="392" actId="14100"/>
        <pc:sldMkLst>
          <pc:docMk/>
          <pc:sldMk cId="2328655230" sldId="256"/>
        </pc:sldMkLst>
        <pc:spChg chg="mod">
          <ac:chgData name="Meacham,Cael B" userId="16dd6ec1-4b40-411d-9cd4-ff5e0ad23b8f" providerId="ADAL" clId="{55D0694B-4293-4172-A9D5-12908D914722}" dt="2026-04-22T20:38:41.819" v="117" actId="255"/>
          <ac:spMkLst>
            <pc:docMk/>
            <pc:sldMk cId="2328655230" sldId="256"/>
            <ac:spMk id="2" creationId="{09D51D5F-3EF5-4FA0-8DCD-F5714DD07997}"/>
          </ac:spMkLst>
        </pc:spChg>
        <pc:spChg chg="mod">
          <ac:chgData name="Meacham,Cael B" userId="16dd6ec1-4b40-411d-9cd4-ff5e0ad23b8f" providerId="ADAL" clId="{55D0694B-4293-4172-A9D5-12908D914722}" dt="2026-04-22T20:56:43.517" v="327" actId="27636"/>
          <ac:spMkLst>
            <pc:docMk/>
            <pc:sldMk cId="2328655230" sldId="256"/>
            <ac:spMk id="3" creationId="{DF611C5B-6CA3-41B7-A609-6C0419D56703}"/>
          </ac:spMkLst>
        </pc:spChg>
        <pc:spChg chg="del">
          <ac:chgData name="Meacham,Cael B" userId="16dd6ec1-4b40-411d-9cd4-ff5e0ad23b8f" providerId="ADAL" clId="{55D0694B-4293-4172-A9D5-12908D914722}" dt="2026-04-22T20:53:40.466" v="310" actId="478"/>
          <ac:spMkLst>
            <pc:docMk/>
            <pc:sldMk cId="2328655230" sldId="256"/>
            <ac:spMk id="4" creationId="{C28B8540-487D-419B-BFD2-4D4E1ED6EA2B}"/>
          </ac:spMkLst>
        </pc:spChg>
        <pc:spChg chg="mod">
          <ac:chgData name="Meacham,Cael B" userId="16dd6ec1-4b40-411d-9cd4-ff5e0ad23b8f" providerId="ADAL" clId="{55D0694B-4293-4172-A9D5-12908D914722}" dt="2026-04-22T20:33:19.952" v="103" actId="20577"/>
          <ac:spMkLst>
            <pc:docMk/>
            <pc:sldMk cId="2328655230" sldId="256"/>
            <ac:spMk id="5" creationId="{FD9B4624-6455-4E23-918A-4360F464B107}"/>
          </ac:spMkLst>
        </pc:spChg>
        <pc:spChg chg="mod">
          <ac:chgData name="Meacham,Cael B" userId="16dd6ec1-4b40-411d-9cd4-ff5e0ad23b8f" providerId="ADAL" clId="{55D0694B-4293-4172-A9D5-12908D914722}" dt="2026-04-22T20:41:10.289" v="258" actId="20577"/>
          <ac:spMkLst>
            <pc:docMk/>
            <pc:sldMk cId="2328655230" sldId="256"/>
            <ac:spMk id="6" creationId="{3C2C6E8C-A19F-443C-BE21-2667ABA3DB01}"/>
          </ac:spMkLst>
        </pc:spChg>
        <pc:spChg chg="mod">
          <ac:chgData name="Meacham,Cael B" userId="16dd6ec1-4b40-411d-9cd4-ff5e0ad23b8f" providerId="ADAL" clId="{55D0694B-4293-4172-A9D5-12908D914722}" dt="2026-04-22T20:38:57.848" v="120" actId="1076"/>
          <ac:spMkLst>
            <pc:docMk/>
            <pc:sldMk cId="2328655230" sldId="256"/>
            <ac:spMk id="7" creationId="{31F0E864-A8FA-4890-9AA7-9F3E2101A01F}"/>
          </ac:spMkLst>
        </pc:spChg>
        <pc:spChg chg="mod">
          <ac:chgData name="Meacham,Cael B" userId="16dd6ec1-4b40-411d-9cd4-ff5e0ad23b8f" providerId="ADAL" clId="{55D0694B-4293-4172-A9D5-12908D914722}" dt="2026-04-22T20:46:14.915" v="278" actId="1076"/>
          <ac:spMkLst>
            <pc:docMk/>
            <pc:sldMk cId="2328655230" sldId="256"/>
            <ac:spMk id="8" creationId="{081E2E4F-4653-4FC9-8D15-2861B2A72D85}"/>
          </ac:spMkLst>
        </pc:spChg>
        <pc:spChg chg="mod">
          <ac:chgData name="Meacham,Cael B" userId="16dd6ec1-4b40-411d-9cd4-ff5e0ad23b8f" providerId="ADAL" clId="{55D0694B-4293-4172-A9D5-12908D914722}" dt="2026-04-22T20:41:33.260" v="274" actId="20577"/>
          <ac:spMkLst>
            <pc:docMk/>
            <pc:sldMk cId="2328655230" sldId="256"/>
            <ac:spMk id="9" creationId="{AA3C5EF7-7632-426A-B8E7-2222FA83FF74}"/>
          </ac:spMkLst>
        </pc:spChg>
        <pc:spChg chg="mod">
          <ac:chgData name="Meacham,Cael B" userId="16dd6ec1-4b40-411d-9cd4-ff5e0ad23b8f" providerId="ADAL" clId="{55D0694B-4293-4172-A9D5-12908D914722}" dt="2026-04-22T20:39:29.415" v="126" actId="1076"/>
          <ac:spMkLst>
            <pc:docMk/>
            <pc:sldMk cId="2328655230" sldId="256"/>
            <ac:spMk id="10" creationId="{CAB35C23-DD9B-427C-8059-8D581E02AC81}"/>
          </ac:spMkLst>
        </pc:spChg>
        <pc:spChg chg="mod">
          <ac:chgData name="Meacham,Cael B" userId="16dd6ec1-4b40-411d-9cd4-ff5e0ad23b8f" providerId="ADAL" clId="{55D0694B-4293-4172-A9D5-12908D914722}" dt="2026-04-22T21:07:48.546" v="370" actId="14100"/>
          <ac:spMkLst>
            <pc:docMk/>
            <pc:sldMk cId="2328655230" sldId="256"/>
            <ac:spMk id="11" creationId="{A7C99547-1A00-4B68-815A-0772F4529118}"/>
          </ac:spMkLst>
        </pc:spChg>
        <pc:spChg chg="mod">
          <ac:chgData name="Meacham,Cael B" userId="16dd6ec1-4b40-411d-9cd4-ff5e0ad23b8f" providerId="ADAL" clId="{55D0694B-4293-4172-A9D5-12908D914722}" dt="2026-04-22T20:38:53.585" v="119" actId="1076"/>
          <ac:spMkLst>
            <pc:docMk/>
            <pc:sldMk cId="2328655230" sldId="256"/>
            <ac:spMk id="12" creationId="{16F2A830-7038-4FAF-A4C6-D9B77B8BC357}"/>
          </ac:spMkLst>
        </pc:spChg>
        <pc:spChg chg="mod">
          <ac:chgData name="Meacham,Cael B" userId="16dd6ec1-4b40-411d-9cd4-ff5e0ad23b8f" providerId="ADAL" clId="{55D0694B-4293-4172-A9D5-12908D914722}" dt="2026-04-22T21:07:05.521" v="362" actId="1076"/>
          <ac:spMkLst>
            <pc:docMk/>
            <pc:sldMk cId="2328655230" sldId="256"/>
            <ac:spMk id="13" creationId="{E38600CE-F4F2-4F2B-B7DB-2352EBDAE832}"/>
          </ac:spMkLst>
        </pc:spChg>
        <pc:spChg chg="mod">
          <ac:chgData name="Meacham,Cael B" userId="16dd6ec1-4b40-411d-9cd4-ff5e0ad23b8f" providerId="ADAL" clId="{55D0694B-4293-4172-A9D5-12908D914722}" dt="2026-04-22T21:07:03.183" v="361" actId="1076"/>
          <ac:spMkLst>
            <pc:docMk/>
            <pc:sldMk cId="2328655230" sldId="256"/>
            <ac:spMk id="14" creationId="{3232D8AA-F349-412F-869B-497A22B45618}"/>
          </ac:spMkLst>
        </pc:spChg>
        <pc:spChg chg="del mod">
          <ac:chgData name="Meacham,Cael B" userId="16dd6ec1-4b40-411d-9cd4-ff5e0ad23b8f" providerId="ADAL" clId="{55D0694B-4293-4172-A9D5-12908D914722}" dt="2026-04-22T21:07:10.030" v="364" actId="478"/>
          <ac:spMkLst>
            <pc:docMk/>
            <pc:sldMk cId="2328655230" sldId="256"/>
            <ac:spMk id="15" creationId="{84FE595E-DFDE-49E0-A077-CCB625723FB3}"/>
          </ac:spMkLst>
        </pc:spChg>
        <pc:spChg chg="del mod">
          <ac:chgData name="Meacham,Cael B" userId="16dd6ec1-4b40-411d-9cd4-ff5e0ad23b8f" providerId="ADAL" clId="{55D0694B-4293-4172-A9D5-12908D914722}" dt="2026-04-22T21:07:08.595" v="363" actId="478"/>
          <ac:spMkLst>
            <pc:docMk/>
            <pc:sldMk cId="2328655230" sldId="256"/>
            <ac:spMk id="16" creationId="{47F0AB6A-02EC-40B4-9785-064C004C8F62}"/>
          </ac:spMkLst>
        </pc:spChg>
        <pc:spChg chg="del">
          <ac:chgData name="Meacham,Cael B" userId="16dd6ec1-4b40-411d-9cd4-ff5e0ad23b8f" providerId="ADAL" clId="{55D0694B-4293-4172-A9D5-12908D914722}" dt="2026-04-22T20:34:18.085" v="104" actId="931"/>
          <ac:spMkLst>
            <pc:docMk/>
            <pc:sldMk cId="2328655230" sldId="256"/>
            <ac:spMk id="17" creationId="{7B3207A9-0B7A-4BD3-ACD7-D77AD8859930}"/>
          </ac:spMkLst>
        </pc:spChg>
        <pc:spChg chg="add mod">
          <ac:chgData name="Meacham,Cael B" userId="16dd6ec1-4b40-411d-9cd4-ff5e0ad23b8f" providerId="ADAL" clId="{55D0694B-4293-4172-A9D5-12908D914722}" dt="2026-04-22T21:10:16.565" v="389" actId="255"/>
          <ac:spMkLst>
            <pc:docMk/>
            <pc:sldMk cId="2328655230" sldId="256"/>
            <ac:spMk id="28" creationId="{17CAB5F6-1089-B573-892C-48B1F57AA420}"/>
          </ac:spMkLst>
        </pc:spChg>
        <pc:picChg chg="add mod ord">
          <ac:chgData name="Meacham,Cael B" userId="16dd6ec1-4b40-411d-9cd4-ff5e0ad23b8f" providerId="ADAL" clId="{55D0694B-4293-4172-A9D5-12908D914722}" dt="2026-04-22T21:10:33.140" v="392" actId="14100"/>
          <ac:picMkLst>
            <pc:docMk/>
            <pc:sldMk cId="2328655230" sldId="256"/>
            <ac:picMk id="19" creationId="{771EF309-6731-51E0-7581-E453B15C3483}"/>
          </ac:picMkLst>
        </pc:picChg>
        <pc:picChg chg="add del mod">
          <ac:chgData name="Meacham,Cael B" userId="16dd6ec1-4b40-411d-9cd4-ff5e0ad23b8f" providerId="ADAL" clId="{55D0694B-4293-4172-A9D5-12908D914722}" dt="2026-04-22T20:54:45.222" v="319" actId="478"/>
          <ac:picMkLst>
            <pc:docMk/>
            <pc:sldMk cId="2328655230" sldId="256"/>
            <ac:picMk id="21" creationId="{BA797F1B-5B33-D4BE-FEA8-6C6A9FE72E7B}"/>
          </ac:picMkLst>
        </pc:picChg>
        <pc:picChg chg="add del mod">
          <ac:chgData name="Meacham,Cael B" userId="16dd6ec1-4b40-411d-9cd4-ff5e0ad23b8f" providerId="ADAL" clId="{55D0694B-4293-4172-A9D5-12908D914722}" dt="2026-04-22T21:03:49.283" v="328" actId="478"/>
          <ac:picMkLst>
            <pc:docMk/>
            <pc:sldMk cId="2328655230" sldId="256"/>
            <ac:picMk id="23" creationId="{0C577AFB-3E8A-0F0E-B3A8-7957549323F1}"/>
          </ac:picMkLst>
        </pc:picChg>
        <pc:picChg chg="add mod">
          <ac:chgData name="Meacham,Cael B" userId="16dd6ec1-4b40-411d-9cd4-ff5e0ad23b8f" providerId="ADAL" clId="{55D0694B-4293-4172-A9D5-12908D914722}" dt="2026-04-22T21:05:30.236" v="334" actId="14100"/>
          <ac:picMkLst>
            <pc:docMk/>
            <pc:sldMk cId="2328655230" sldId="256"/>
            <ac:picMk id="25" creationId="{0431AC1B-677A-8D59-2EA5-68BB1F0DD416}"/>
          </ac:picMkLst>
        </pc:picChg>
        <pc:picChg chg="add mod">
          <ac:chgData name="Meacham,Cael B" userId="16dd6ec1-4b40-411d-9cd4-ff5e0ad23b8f" providerId="ADAL" clId="{55D0694B-4293-4172-A9D5-12908D914722}" dt="2026-04-22T21:04:02.106" v="333" actId="14100"/>
          <ac:picMkLst>
            <pc:docMk/>
            <pc:sldMk cId="2328655230" sldId="256"/>
            <ac:picMk id="27" creationId="{9C50BE0F-C473-030A-66CB-0DB29358D0A1}"/>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B6D5E66F-9009-47ED-BB8E-E6EE944B4014}"/>
              </a:ext>
            </a:extLst>
          </p:cNvPr>
          <p:cNvSpPr>
            <a:spLocks noGrp="1"/>
          </p:cNvSpPr>
          <p:nvPr>
            <p:ph type="body" sz="quarter" idx="10" hasCustomPrompt="1"/>
          </p:nvPr>
        </p:nvSpPr>
        <p:spPr>
          <a:xfrm>
            <a:off x="914400" y="7543800"/>
            <a:ext cx="10058400" cy="8686800"/>
          </a:xfrm>
        </p:spPr>
        <p:txBody>
          <a:bodyPr/>
          <a:lstStyle>
            <a:lvl1pPr marL="0" indent="0">
              <a:buFont typeface="Arial" panose="020B0604020202020204" pitchFamily="34" charset="0"/>
              <a:buNone/>
              <a:defRPr sz="6600">
                <a:latin typeface="+mn-lt"/>
              </a:defRPr>
            </a:lvl1pPr>
          </a:lstStyle>
          <a:p>
            <a:pPr lvl="0"/>
            <a:r>
              <a:rPr lang="en-US" dirty="0"/>
              <a:t>Add a succinct introduction to the focus of this project.  You should name this section appropriately (Introduction, Problem Statement, </a:t>
            </a:r>
            <a:r>
              <a:rPr lang="en-US" dirty="0" err="1"/>
              <a:t>etc</a:t>
            </a:r>
            <a:r>
              <a:rPr lang="en-US" dirty="0"/>
              <a:t>).  Font size should not be less than 36</a:t>
            </a:r>
          </a:p>
        </p:txBody>
      </p:sp>
      <p:sp>
        <p:nvSpPr>
          <p:cNvPr id="22" name="Text Placeholder 15">
            <a:extLst>
              <a:ext uri="{FF2B5EF4-FFF2-40B4-BE49-F238E27FC236}">
                <a16:creationId xmlns:a16="http://schemas.microsoft.com/office/drawing/2014/main" id="{11ECAA6F-8BF8-47E6-822C-3181D97DA5A4}"/>
              </a:ext>
            </a:extLst>
          </p:cNvPr>
          <p:cNvSpPr>
            <a:spLocks noGrp="1"/>
          </p:cNvSpPr>
          <p:nvPr>
            <p:ph type="body" sz="quarter" idx="12" hasCustomPrompt="1"/>
          </p:nvPr>
        </p:nvSpPr>
        <p:spPr>
          <a:xfrm>
            <a:off x="32918400" y="7543800"/>
            <a:ext cx="10058400" cy="19431000"/>
          </a:xfrm>
        </p:spPr>
        <p:txBody>
          <a:bodyPr/>
          <a:lstStyle>
            <a:lvl1pPr marL="0" indent="0">
              <a:buFont typeface="Arial" panose="020B0604020202020204" pitchFamily="34" charset="0"/>
              <a:buNone/>
              <a:defRPr sz="6600" i="0">
                <a:latin typeface="+mn-lt"/>
              </a:defRPr>
            </a:lvl1pPr>
          </a:lstStyle>
          <a:p>
            <a:pPr lvl="0"/>
            <a:r>
              <a:rPr lang="en-US" dirty="0"/>
              <a:t>Draw conclusions here. Do not just restate your results, but draw new information from them.  Summarize what you learned.</a:t>
            </a:r>
          </a:p>
        </p:txBody>
      </p:sp>
      <p:sp>
        <p:nvSpPr>
          <p:cNvPr id="28" name="Text Placeholder 15">
            <a:extLst>
              <a:ext uri="{FF2B5EF4-FFF2-40B4-BE49-F238E27FC236}">
                <a16:creationId xmlns:a16="http://schemas.microsoft.com/office/drawing/2014/main" id="{74161529-3307-4BDF-8138-E78B39B4B615}"/>
              </a:ext>
            </a:extLst>
          </p:cNvPr>
          <p:cNvSpPr>
            <a:spLocks noGrp="1"/>
          </p:cNvSpPr>
          <p:nvPr>
            <p:ph type="body" sz="quarter" idx="18" hasCustomPrompt="1"/>
          </p:nvPr>
        </p:nvSpPr>
        <p:spPr>
          <a:xfrm>
            <a:off x="11887200" y="7543800"/>
            <a:ext cx="20116800" cy="19431000"/>
          </a:xfrm>
        </p:spPr>
        <p:txBody>
          <a:bodyPr/>
          <a:lstStyle>
            <a:lvl1pPr marL="0" indent="0">
              <a:buFont typeface="Arial" panose="020B0604020202020204" pitchFamily="34" charset="0"/>
              <a:buNone/>
              <a:defRPr sz="6600">
                <a:latin typeface="+mn-lt"/>
              </a:defRPr>
            </a:lvl1pPr>
          </a:lstStyle>
          <a:p>
            <a:pPr lvl="0"/>
            <a:r>
              <a:rPr lang="en-US" dirty="0"/>
              <a:t>Show tables, graphs, charts, </a:t>
            </a:r>
            <a:r>
              <a:rPr lang="en-US" dirty="0" err="1"/>
              <a:t>etc</a:t>
            </a:r>
            <a:r>
              <a:rPr lang="en-US" dirty="0"/>
              <a:t> here.  Keep text sparse.  Captions may have smaller text sizes (don’t go smaller than 18 point).   </a:t>
            </a:r>
          </a:p>
          <a:p>
            <a:pPr lvl="0"/>
            <a:endParaRPr lang="en-US" dirty="0"/>
          </a:p>
        </p:txBody>
      </p:sp>
      <p:sp>
        <p:nvSpPr>
          <p:cNvPr id="2" name="Title 1"/>
          <p:cNvSpPr>
            <a:spLocks noGrp="1"/>
          </p:cNvSpPr>
          <p:nvPr>
            <p:ph type="ctrTitle" hasCustomPrompt="1"/>
          </p:nvPr>
        </p:nvSpPr>
        <p:spPr>
          <a:xfrm>
            <a:off x="4965192" y="669497"/>
            <a:ext cx="33960816" cy="2560320"/>
          </a:xfrm>
        </p:spPr>
        <p:txBody>
          <a:bodyPr anchor="ctr" anchorCtr="0">
            <a:normAutofit/>
          </a:bodyPr>
          <a:lstStyle>
            <a:lvl1pPr algn="ctr">
              <a:defRPr sz="9600">
                <a:solidFill>
                  <a:schemeClr val="bg1"/>
                </a:solidFill>
              </a:defRPr>
            </a:lvl1pPr>
          </a:lstStyle>
          <a:p>
            <a:r>
              <a:rPr lang="en-US" dirty="0"/>
              <a:t>Project title</a:t>
            </a:r>
            <a:br>
              <a:rPr lang="en-US" dirty="0"/>
            </a:br>
            <a:r>
              <a:rPr lang="en-US" dirty="0"/>
              <a:t>Should not exceed 2 lines</a:t>
            </a:r>
          </a:p>
        </p:txBody>
      </p:sp>
      <p:sp>
        <p:nvSpPr>
          <p:cNvPr id="20" name="Text Placeholder 19">
            <a:extLst>
              <a:ext uri="{FF2B5EF4-FFF2-40B4-BE49-F238E27FC236}">
                <a16:creationId xmlns:a16="http://schemas.microsoft.com/office/drawing/2014/main" id="{6176E7FB-5EE2-4130-8605-3413E722BE9F}"/>
              </a:ext>
            </a:extLst>
          </p:cNvPr>
          <p:cNvSpPr>
            <a:spLocks noGrp="1"/>
          </p:cNvSpPr>
          <p:nvPr>
            <p:ph type="body" sz="quarter" idx="11" hasCustomPrompt="1"/>
          </p:nvPr>
        </p:nvSpPr>
        <p:spPr>
          <a:xfrm>
            <a:off x="914400" y="6400800"/>
            <a:ext cx="100584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Introduction</a:t>
            </a:r>
          </a:p>
        </p:txBody>
      </p:sp>
      <p:sp>
        <p:nvSpPr>
          <p:cNvPr id="23" name="Text Placeholder 19">
            <a:extLst>
              <a:ext uri="{FF2B5EF4-FFF2-40B4-BE49-F238E27FC236}">
                <a16:creationId xmlns:a16="http://schemas.microsoft.com/office/drawing/2014/main" id="{F4F2A96E-4378-4CF0-B899-C10E83F2ECE8}"/>
              </a:ext>
            </a:extLst>
          </p:cNvPr>
          <p:cNvSpPr>
            <a:spLocks noGrp="1"/>
          </p:cNvSpPr>
          <p:nvPr>
            <p:ph type="body" sz="quarter" idx="13" hasCustomPrompt="1"/>
          </p:nvPr>
        </p:nvSpPr>
        <p:spPr>
          <a:xfrm>
            <a:off x="32918400" y="6400800"/>
            <a:ext cx="100584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Conclusion</a:t>
            </a:r>
          </a:p>
        </p:txBody>
      </p:sp>
      <p:sp>
        <p:nvSpPr>
          <p:cNvPr id="24" name="Text Placeholder 15">
            <a:extLst>
              <a:ext uri="{FF2B5EF4-FFF2-40B4-BE49-F238E27FC236}">
                <a16:creationId xmlns:a16="http://schemas.microsoft.com/office/drawing/2014/main" id="{CD32646F-4A35-470F-AFA8-9E40AB71E4D4}"/>
              </a:ext>
            </a:extLst>
          </p:cNvPr>
          <p:cNvSpPr>
            <a:spLocks noGrp="1"/>
          </p:cNvSpPr>
          <p:nvPr>
            <p:ph type="body" sz="quarter" idx="14" hasCustomPrompt="1"/>
          </p:nvPr>
        </p:nvSpPr>
        <p:spPr>
          <a:xfrm>
            <a:off x="914400" y="18288000"/>
            <a:ext cx="10058400" cy="8686800"/>
          </a:xfrm>
        </p:spPr>
        <p:txBody>
          <a:bodyPr/>
          <a:lstStyle>
            <a:lvl1pPr marL="0" indent="0">
              <a:buFont typeface="Arial" panose="020B0604020202020204" pitchFamily="34" charset="0"/>
              <a:buNone/>
              <a:defRPr sz="6600">
                <a:latin typeface="+mn-lt"/>
              </a:defRPr>
            </a:lvl1pPr>
          </a:lstStyle>
          <a:p>
            <a:pPr lvl="0"/>
            <a:r>
              <a:rPr lang="en-US" dirty="0"/>
              <a:t>List tools or methodologies you used; briefly describe your process. </a:t>
            </a:r>
          </a:p>
          <a:p>
            <a:pPr lvl="0"/>
            <a:endParaRPr lang="en-US" dirty="0"/>
          </a:p>
        </p:txBody>
      </p:sp>
      <p:sp>
        <p:nvSpPr>
          <p:cNvPr id="25" name="Text Placeholder 19">
            <a:extLst>
              <a:ext uri="{FF2B5EF4-FFF2-40B4-BE49-F238E27FC236}">
                <a16:creationId xmlns:a16="http://schemas.microsoft.com/office/drawing/2014/main" id="{7606CCBB-CB88-413D-A464-22C730DB7423}"/>
              </a:ext>
            </a:extLst>
          </p:cNvPr>
          <p:cNvSpPr>
            <a:spLocks noGrp="1"/>
          </p:cNvSpPr>
          <p:nvPr>
            <p:ph type="body" sz="quarter" idx="15" hasCustomPrompt="1"/>
          </p:nvPr>
        </p:nvSpPr>
        <p:spPr>
          <a:xfrm>
            <a:off x="914400" y="17145000"/>
            <a:ext cx="100584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Materials/Methods</a:t>
            </a:r>
          </a:p>
        </p:txBody>
      </p:sp>
      <p:sp>
        <p:nvSpPr>
          <p:cNvPr id="26" name="Text Placeholder 15">
            <a:extLst>
              <a:ext uri="{FF2B5EF4-FFF2-40B4-BE49-F238E27FC236}">
                <a16:creationId xmlns:a16="http://schemas.microsoft.com/office/drawing/2014/main" id="{A3DED52D-79A8-4AA3-AA78-01A5C4BA7524}"/>
              </a:ext>
            </a:extLst>
          </p:cNvPr>
          <p:cNvSpPr>
            <a:spLocks noGrp="1"/>
          </p:cNvSpPr>
          <p:nvPr>
            <p:ph type="body" sz="quarter" idx="16" hasCustomPrompt="1"/>
          </p:nvPr>
        </p:nvSpPr>
        <p:spPr>
          <a:xfrm>
            <a:off x="914400" y="29032200"/>
            <a:ext cx="20574000" cy="2971800"/>
          </a:xfrm>
        </p:spPr>
        <p:txBody>
          <a:bodyPr>
            <a:normAutofit/>
          </a:bodyPr>
          <a:lstStyle>
            <a:lvl1pPr marL="0" indent="0">
              <a:buFont typeface="Arial" panose="020B0604020202020204" pitchFamily="34" charset="0"/>
              <a:buNone/>
              <a:defRPr sz="6600">
                <a:latin typeface="+mn-lt"/>
              </a:defRPr>
            </a:lvl1pPr>
          </a:lstStyle>
          <a:p>
            <a:pPr lvl="0"/>
            <a:r>
              <a:rPr lang="en-US" dirty="0"/>
              <a:t>List primary resources, links for tools, </a:t>
            </a:r>
            <a:r>
              <a:rPr lang="en-US" dirty="0" err="1"/>
              <a:t>etc</a:t>
            </a:r>
            <a:r>
              <a:rPr lang="en-US" dirty="0"/>
              <a:t> here.  This text can be smaller (as it is not the focus of your poster); do not go smaller than 24 pt. font.</a:t>
            </a:r>
          </a:p>
        </p:txBody>
      </p:sp>
      <p:sp>
        <p:nvSpPr>
          <p:cNvPr id="27" name="Text Placeholder 19">
            <a:extLst>
              <a:ext uri="{FF2B5EF4-FFF2-40B4-BE49-F238E27FC236}">
                <a16:creationId xmlns:a16="http://schemas.microsoft.com/office/drawing/2014/main" id="{B4E0C4AA-0531-4C45-BA36-9C088D53B259}"/>
              </a:ext>
            </a:extLst>
          </p:cNvPr>
          <p:cNvSpPr>
            <a:spLocks noGrp="1"/>
          </p:cNvSpPr>
          <p:nvPr>
            <p:ph type="body" sz="quarter" idx="17" hasCustomPrompt="1"/>
          </p:nvPr>
        </p:nvSpPr>
        <p:spPr>
          <a:xfrm>
            <a:off x="914400" y="27889200"/>
            <a:ext cx="205740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Bibliography, Additional Resources</a:t>
            </a:r>
          </a:p>
        </p:txBody>
      </p:sp>
      <p:sp>
        <p:nvSpPr>
          <p:cNvPr id="29" name="Text Placeholder 19">
            <a:extLst>
              <a:ext uri="{FF2B5EF4-FFF2-40B4-BE49-F238E27FC236}">
                <a16:creationId xmlns:a16="http://schemas.microsoft.com/office/drawing/2014/main" id="{D97286D3-0DCF-458A-BC3C-E861081AAD52}"/>
              </a:ext>
            </a:extLst>
          </p:cNvPr>
          <p:cNvSpPr>
            <a:spLocks noGrp="1"/>
          </p:cNvSpPr>
          <p:nvPr>
            <p:ph type="body" sz="quarter" idx="19" hasCustomPrompt="1"/>
          </p:nvPr>
        </p:nvSpPr>
        <p:spPr>
          <a:xfrm>
            <a:off x="11887200" y="6400800"/>
            <a:ext cx="201168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Results</a:t>
            </a:r>
          </a:p>
        </p:txBody>
      </p:sp>
      <p:sp>
        <p:nvSpPr>
          <p:cNvPr id="30" name="Text Placeholder 15">
            <a:extLst>
              <a:ext uri="{FF2B5EF4-FFF2-40B4-BE49-F238E27FC236}">
                <a16:creationId xmlns:a16="http://schemas.microsoft.com/office/drawing/2014/main" id="{445B09A0-E4B9-499C-AAD0-CFD28A9E7B55}"/>
              </a:ext>
            </a:extLst>
          </p:cNvPr>
          <p:cNvSpPr>
            <a:spLocks noGrp="1"/>
          </p:cNvSpPr>
          <p:nvPr>
            <p:ph type="body" sz="quarter" idx="20" hasCustomPrompt="1"/>
          </p:nvPr>
        </p:nvSpPr>
        <p:spPr>
          <a:xfrm>
            <a:off x="32918400" y="29032200"/>
            <a:ext cx="10058400" cy="2971800"/>
          </a:xfrm>
        </p:spPr>
        <p:txBody>
          <a:bodyPr/>
          <a:lstStyle>
            <a:lvl1pPr marL="0" indent="0">
              <a:buFont typeface="Arial" panose="020B0604020202020204" pitchFamily="34" charset="0"/>
              <a:buNone/>
              <a:defRPr sz="4800">
                <a:latin typeface="+mn-lt"/>
              </a:defRPr>
            </a:lvl1pPr>
          </a:lstStyle>
          <a:p>
            <a:pPr lvl="0"/>
            <a:r>
              <a:rPr lang="en-US" dirty="0"/>
              <a:t>Put repository information here, links to final project (if web hosted), </a:t>
            </a:r>
            <a:r>
              <a:rPr lang="en-US" dirty="0" err="1"/>
              <a:t>etc</a:t>
            </a:r>
            <a:br>
              <a:rPr lang="en-US" dirty="0"/>
            </a:br>
            <a:r>
              <a:rPr lang="en-US" dirty="0"/>
              <a:t>Make </a:t>
            </a:r>
            <a:r>
              <a:rPr lang="en-US" dirty="0" err="1"/>
              <a:t>urls</a:t>
            </a:r>
            <a:r>
              <a:rPr lang="en-US" dirty="0"/>
              <a:t> easy to find (</a:t>
            </a:r>
            <a:r>
              <a:rPr lang="en-US" dirty="0" err="1"/>
              <a:t>url</a:t>
            </a:r>
            <a:r>
              <a:rPr lang="en-US" dirty="0"/>
              <a:t> </a:t>
            </a:r>
            <a:r>
              <a:rPr lang="en-US" dirty="0" err="1"/>
              <a:t>shortener</a:t>
            </a:r>
            <a:r>
              <a:rPr lang="en-US" dirty="0"/>
              <a:t>, </a:t>
            </a:r>
            <a:r>
              <a:rPr lang="en-US" dirty="0" err="1"/>
              <a:t>etc</a:t>
            </a:r>
            <a:r>
              <a:rPr lang="en-US" dirty="0"/>
              <a:t>)</a:t>
            </a:r>
          </a:p>
          <a:p>
            <a:pPr lvl="0"/>
            <a:endParaRPr lang="en-US" dirty="0"/>
          </a:p>
        </p:txBody>
      </p:sp>
      <p:sp>
        <p:nvSpPr>
          <p:cNvPr id="31" name="Text Placeholder 19">
            <a:extLst>
              <a:ext uri="{FF2B5EF4-FFF2-40B4-BE49-F238E27FC236}">
                <a16:creationId xmlns:a16="http://schemas.microsoft.com/office/drawing/2014/main" id="{B6D57FAF-8E5A-4883-A160-305F7FDE5D17}"/>
              </a:ext>
            </a:extLst>
          </p:cNvPr>
          <p:cNvSpPr>
            <a:spLocks noGrp="1"/>
          </p:cNvSpPr>
          <p:nvPr>
            <p:ph type="body" sz="quarter" idx="21" hasCustomPrompt="1"/>
          </p:nvPr>
        </p:nvSpPr>
        <p:spPr>
          <a:xfrm>
            <a:off x="32918400" y="27889200"/>
            <a:ext cx="100584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Further Information</a:t>
            </a:r>
          </a:p>
        </p:txBody>
      </p:sp>
      <p:sp>
        <p:nvSpPr>
          <p:cNvPr id="32" name="Text Placeholder 15">
            <a:extLst>
              <a:ext uri="{FF2B5EF4-FFF2-40B4-BE49-F238E27FC236}">
                <a16:creationId xmlns:a16="http://schemas.microsoft.com/office/drawing/2014/main" id="{C7A5DCD1-D6DC-42D4-A4EE-2B1EE7DCCACF}"/>
              </a:ext>
            </a:extLst>
          </p:cNvPr>
          <p:cNvSpPr>
            <a:spLocks noGrp="1"/>
          </p:cNvSpPr>
          <p:nvPr>
            <p:ph type="body" sz="quarter" idx="22" hasCustomPrompt="1"/>
          </p:nvPr>
        </p:nvSpPr>
        <p:spPr>
          <a:xfrm>
            <a:off x="22402800" y="29032200"/>
            <a:ext cx="9601200" cy="2971800"/>
          </a:xfrm>
        </p:spPr>
        <p:txBody>
          <a:bodyPr/>
          <a:lstStyle>
            <a:lvl1pPr marL="0" indent="0">
              <a:buFont typeface="Arial" panose="020B0604020202020204" pitchFamily="34" charset="0"/>
              <a:buNone/>
              <a:defRPr sz="6600">
                <a:latin typeface="+mn-lt"/>
              </a:defRPr>
            </a:lvl1pPr>
          </a:lstStyle>
          <a:p>
            <a:pPr lvl="0"/>
            <a:r>
              <a:rPr lang="en-US" dirty="0"/>
              <a:t>List sponsors, mentors, </a:t>
            </a:r>
            <a:r>
              <a:rPr lang="en-US" dirty="0" err="1"/>
              <a:t>etc</a:t>
            </a:r>
            <a:r>
              <a:rPr lang="en-US" dirty="0"/>
              <a:t> here.</a:t>
            </a:r>
          </a:p>
        </p:txBody>
      </p:sp>
      <p:sp>
        <p:nvSpPr>
          <p:cNvPr id="33" name="Text Placeholder 19">
            <a:extLst>
              <a:ext uri="{FF2B5EF4-FFF2-40B4-BE49-F238E27FC236}">
                <a16:creationId xmlns:a16="http://schemas.microsoft.com/office/drawing/2014/main" id="{D9C3A5D8-588C-42C1-9AAC-5510B78A1128}"/>
              </a:ext>
            </a:extLst>
          </p:cNvPr>
          <p:cNvSpPr>
            <a:spLocks noGrp="1"/>
          </p:cNvSpPr>
          <p:nvPr>
            <p:ph type="body" sz="quarter" idx="23" hasCustomPrompt="1"/>
          </p:nvPr>
        </p:nvSpPr>
        <p:spPr>
          <a:xfrm>
            <a:off x="22402800" y="27889200"/>
            <a:ext cx="9601200" cy="1143000"/>
          </a:xfrm>
          <a:solidFill>
            <a:srgbClr val="006747"/>
          </a:solidFill>
          <a:effectLst>
            <a:glow rad="177800">
              <a:schemeClr val="tx1">
                <a:alpha val="40000"/>
              </a:schemeClr>
            </a:glow>
          </a:effectLst>
        </p:spPr>
        <p:txBody>
          <a:bodyPr anchor="ctr" anchorCtr="0">
            <a:normAutofit/>
          </a:bodyPr>
          <a:lstStyle>
            <a:lvl1pPr marL="0" indent="0" algn="ctr">
              <a:buNone/>
              <a:defRPr sz="7200">
                <a:solidFill>
                  <a:schemeClr val="bg1"/>
                </a:solidFill>
                <a:latin typeface="+mj-lt"/>
              </a:defRPr>
            </a:lvl1pPr>
          </a:lstStyle>
          <a:p>
            <a:pPr lvl="0"/>
            <a:r>
              <a:rPr lang="en-US" dirty="0"/>
              <a:t>Acknowledgements</a:t>
            </a:r>
          </a:p>
        </p:txBody>
      </p:sp>
      <p:pic>
        <p:nvPicPr>
          <p:cNvPr id="1030" name="Picture 6" descr="https://www.nwmissouri.edu/marketing/images/design/logos/N60-2Stack-W.png">
            <a:extLst>
              <a:ext uri="{FF2B5EF4-FFF2-40B4-BE49-F238E27FC236}">
                <a16:creationId xmlns:a16="http://schemas.microsoft.com/office/drawing/2014/main" id="{50547536-0CA8-4774-955F-78103C8DB4F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9456360" y="512064"/>
            <a:ext cx="3920693" cy="4434840"/>
          </a:xfrm>
          <a:prstGeom prst="rect">
            <a:avLst/>
          </a:prstGeom>
          <a:noFill/>
          <a:extLst>
            <a:ext uri="{909E8E84-426E-40DD-AFC4-6F175D3DCCD1}">
              <a14:hiddenFill xmlns:a14="http://schemas.microsoft.com/office/drawing/2010/main">
                <a:solidFill>
                  <a:srgbClr val="FFFFFF"/>
                </a:solidFill>
              </a14:hiddenFill>
            </a:ext>
          </a:extLst>
        </p:spPr>
      </p:pic>
      <p:sp>
        <p:nvSpPr>
          <p:cNvPr id="34" name="Content Placeholder 33">
            <a:extLst>
              <a:ext uri="{FF2B5EF4-FFF2-40B4-BE49-F238E27FC236}">
                <a16:creationId xmlns:a16="http://schemas.microsoft.com/office/drawing/2014/main" id="{8C3ECC03-D912-4EB3-A934-2B129A105359}"/>
              </a:ext>
            </a:extLst>
          </p:cNvPr>
          <p:cNvSpPr>
            <a:spLocks noGrp="1"/>
          </p:cNvSpPr>
          <p:nvPr>
            <p:ph sz="quarter" idx="24" hasCustomPrompt="1"/>
          </p:nvPr>
        </p:nvSpPr>
        <p:spPr>
          <a:xfrm>
            <a:off x="512064" y="512064"/>
            <a:ext cx="3941064" cy="4434840"/>
          </a:xfrm>
        </p:spPr>
        <p:txBody>
          <a:bodyPr>
            <a:noAutofit/>
          </a:bodyPr>
          <a:lstStyle>
            <a:lvl1pPr marL="0" indent="0">
              <a:buNone/>
              <a:defRPr sz="5400">
                <a:solidFill>
                  <a:schemeClr val="bg1"/>
                </a:solidFill>
              </a:defRPr>
            </a:lvl1pPr>
          </a:lstStyle>
          <a:p>
            <a:pPr lvl="0"/>
            <a:r>
              <a:rPr lang="en-US" dirty="0"/>
              <a:t>Add additional appropriate graphic/logo here</a:t>
            </a:r>
          </a:p>
        </p:txBody>
      </p:sp>
      <p:sp>
        <p:nvSpPr>
          <p:cNvPr id="4" name="Text Placeholder 3">
            <a:extLst>
              <a:ext uri="{FF2B5EF4-FFF2-40B4-BE49-F238E27FC236}">
                <a16:creationId xmlns:a16="http://schemas.microsoft.com/office/drawing/2014/main" id="{06A0CE0B-3E5B-406F-84FA-B1A1EFDF88DA}"/>
              </a:ext>
            </a:extLst>
          </p:cNvPr>
          <p:cNvSpPr>
            <a:spLocks noGrp="1"/>
          </p:cNvSpPr>
          <p:nvPr>
            <p:ph type="body" sz="quarter" idx="25" hasCustomPrompt="1"/>
          </p:nvPr>
        </p:nvSpPr>
        <p:spPr>
          <a:xfrm>
            <a:off x="4928108" y="3383280"/>
            <a:ext cx="33997392" cy="914400"/>
          </a:xfrm>
        </p:spPr>
        <p:txBody>
          <a:bodyPr>
            <a:noAutofit/>
          </a:bodyPr>
          <a:lstStyle>
            <a:lvl1pPr marL="0" indent="0" algn="ctr">
              <a:buNone/>
              <a:defRPr sz="6000">
                <a:solidFill>
                  <a:schemeClr val="bg1"/>
                </a:solidFill>
              </a:defRPr>
            </a:lvl1pPr>
          </a:lstStyle>
          <a:p>
            <a:pPr lvl="0"/>
            <a:r>
              <a:rPr lang="en-US" dirty="0"/>
              <a:t>Author Name(s)</a:t>
            </a:r>
          </a:p>
        </p:txBody>
      </p:sp>
      <p:sp>
        <p:nvSpPr>
          <p:cNvPr id="35" name="Text Placeholder 3">
            <a:extLst>
              <a:ext uri="{FF2B5EF4-FFF2-40B4-BE49-F238E27FC236}">
                <a16:creationId xmlns:a16="http://schemas.microsoft.com/office/drawing/2014/main" id="{636E0170-FC5D-4E5B-A3B4-847283711DD4}"/>
              </a:ext>
            </a:extLst>
          </p:cNvPr>
          <p:cNvSpPr>
            <a:spLocks noGrp="1"/>
          </p:cNvSpPr>
          <p:nvPr>
            <p:ph type="body" sz="quarter" idx="26" hasCustomPrompt="1"/>
          </p:nvPr>
        </p:nvSpPr>
        <p:spPr>
          <a:xfrm>
            <a:off x="4928108" y="4407408"/>
            <a:ext cx="33997392" cy="914400"/>
          </a:xfrm>
        </p:spPr>
        <p:txBody>
          <a:bodyPr>
            <a:noAutofit/>
          </a:bodyPr>
          <a:lstStyle>
            <a:lvl1pPr marL="0" indent="0" algn="ctr">
              <a:buNone/>
              <a:defRPr sz="6000">
                <a:solidFill>
                  <a:schemeClr val="bg1"/>
                </a:solidFill>
              </a:defRPr>
            </a:lvl1pPr>
          </a:lstStyle>
          <a:p>
            <a:pPr lvl="0"/>
            <a:r>
              <a:rPr lang="en-US" dirty="0"/>
              <a:t>Contact and Affiliations</a:t>
            </a:r>
          </a:p>
        </p:txBody>
      </p:sp>
    </p:spTree>
    <p:extLst>
      <p:ext uri="{BB962C8B-B14F-4D97-AF65-F5344CB8AC3E}">
        <p14:creationId xmlns:p14="http://schemas.microsoft.com/office/powerpoint/2010/main" val="346574052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E695B7AD-C0E4-4106-98F1-A426950388A1}" type="datetimeFigureOut">
              <a:rPr lang="en-US" smtClean="0"/>
              <a:t>4/22/2026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3E4186B7-4AB0-4B70-BB5B-FE2ED47BEC90}" type="slidenum">
              <a:rPr lang="en-US" smtClean="0"/>
              <a:t>‹#›</a:t>
            </a:fld>
            <a:endParaRPr lang="en-US"/>
          </a:p>
        </p:txBody>
      </p:sp>
    </p:spTree>
    <p:extLst>
      <p:ext uri="{BB962C8B-B14F-4D97-AF65-F5344CB8AC3E}">
        <p14:creationId xmlns:p14="http://schemas.microsoft.com/office/powerpoint/2010/main" val="2607412069"/>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Cmeacham27/Machine-Learning-Final" TargetMode="External"/><Relationship Id="rId2" Type="http://schemas.openxmlformats.org/officeDocument/2006/relationships/hyperlink" Target="https://www.cdc.gov/nchs/state-stats/deaths/cancer.html" TargetMode="Externa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9D51D5F-3EF5-4FA0-8DCD-F5714DD07997}"/>
              </a:ext>
            </a:extLst>
          </p:cNvPr>
          <p:cNvSpPr>
            <a:spLocks noGrp="1"/>
          </p:cNvSpPr>
          <p:nvPr>
            <p:ph type="body" sz="quarter" idx="10"/>
          </p:nvPr>
        </p:nvSpPr>
        <p:spPr/>
        <p:txBody>
          <a:bodyPr>
            <a:noAutofit/>
          </a:bodyPr>
          <a:lstStyle/>
          <a:p>
            <a:r>
              <a:rPr lang="en-US" sz="4100" dirty="0"/>
              <a:t>This project explores trends in U.S. cancer death rates from 2014 to 2023 to determine how predictable these rates are over time. Using state-level data, multiple machine learning models were applied to analyze patterns, identify outliers, and predict 2023 cancer mortality rates based on historical values. While total cancer deaths may increase due to population growth, death rates provide a more consistent measure of risk and reveal a steady national decline. By combining regression, classification, clustering, and dimensionality reduction techniques, this project demonstrates that cancer mortality trends are highly stable and can be used to make accurate and meaningful predictions about future outcomes</a:t>
            </a:r>
          </a:p>
        </p:txBody>
      </p:sp>
      <p:sp>
        <p:nvSpPr>
          <p:cNvPr id="3" name="Text Placeholder 2">
            <a:extLst>
              <a:ext uri="{FF2B5EF4-FFF2-40B4-BE49-F238E27FC236}">
                <a16:creationId xmlns:a16="http://schemas.microsoft.com/office/drawing/2014/main" id="{DF611C5B-6CA3-41B7-A609-6C0419D56703}"/>
              </a:ext>
            </a:extLst>
          </p:cNvPr>
          <p:cNvSpPr>
            <a:spLocks noGrp="1"/>
          </p:cNvSpPr>
          <p:nvPr>
            <p:ph type="body" sz="quarter" idx="12"/>
          </p:nvPr>
        </p:nvSpPr>
        <p:spPr/>
        <p:txBody>
          <a:bodyPr>
            <a:normAutofit fontScale="92500" lnSpcReduction="20000"/>
          </a:bodyPr>
          <a:lstStyle/>
          <a:p>
            <a:r>
              <a:rPr lang="en-US" dirty="0"/>
              <a:t>The results of this project show that U.S. cancer death rates follow a consistent and predictable downward trend over time, making them highly suitable for machine learning prediction. Models achieved strong performance, with an R² of approximately 0.88 and low prediction error, demonstrating that historical data is an effective indicator of future outcomes. While total cancer deaths may increase due to population growth, the steady decline in death rates highlights improvements in overall health outcomes. Clustering and PCA further revealed that most variation in the data is driven by a small number of key factors, while outlier detection identified states that may require targeted healthcare strategies. Overall, this project confirms that cancer mortality trends are stable, interpretable, and valuable for guiding future analysis and decision-making.</a:t>
            </a:r>
          </a:p>
        </p:txBody>
      </p:sp>
      <p:sp>
        <p:nvSpPr>
          <p:cNvPr id="5" name="Title 4">
            <a:extLst>
              <a:ext uri="{FF2B5EF4-FFF2-40B4-BE49-F238E27FC236}">
                <a16:creationId xmlns:a16="http://schemas.microsoft.com/office/drawing/2014/main" id="{FD9B4624-6455-4E23-918A-4360F464B107}"/>
              </a:ext>
            </a:extLst>
          </p:cNvPr>
          <p:cNvSpPr>
            <a:spLocks noGrp="1"/>
          </p:cNvSpPr>
          <p:nvPr>
            <p:ph type="ctrTitle"/>
          </p:nvPr>
        </p:nvSpPr>
        <p:spPr/>
        <p:txBody>
          <a:bodyPr>
            <a:normAutofit fontScale="90000"/>
          </a:bodyPr>
          <a:lstStyle/>
          <a:p>
            <a:r>
              <a:rPr lang="en-US" dirty="0"/>
              <a:t>United States of America Cancer Death Rate Trends</a:t>
            </a:r>
            <a:br>
              <a:rPr lang="en-US" dirty="0"/>
            </a:br>
            <a:r>
              <a:rPr lang="en-US" dirty="0"/>
              <a:t> From 2014-2023</a:t>
            </a:r>
          </a:p>
        </p:txBody>
      </p:sp>
      <p:sp>
        <p:nvSpPr>
          <p:cNvPr id="6" name="Text Placeholder 5">
            <a:extLst>
              <a:ext uri="{FF2B5EF4-FFF2-40B4-BE49-F238E27FC236}">
                <a16:creationId xmlns:a16="http://schemas.microsoft.com/office/drawing/2014/main" id="{3C2C6E8C-A19F-443C-BE21-2667ABA3DB01}"/>
              </a:ext>
            </a:extLst>
          </p:cNvPr>
          <p:cNvSpPr>
            <a:spLocks noGrp="1"/>
          </p:cNvSpPr>
          <p:nvPr>
            <p:ph type="body" sz="quarter" idx="11"/>
          </p:nvPr>
        </p:nvSpPr>
        <p:spPr>
          <a:xfrm>
            <a:off x="914400" y="6057900"/>
            <a:ext cx="10058400" cy="1143000"/>
          </a:xfrm>
        </p:spPr>
        <p:txBody>
          <a:bodyPr/>
          <a:lstStyle/>
          <a:p>
            <a:r>
              <a:rPr lang="en-US" dirty="0"/>
              <a:t>Introduction</a:t>
            </a:r>
          </a:p>
        </p:txBody>
      </p:sp>
      <p:sp>
        <p:nvSpPr>
          <p:cNvPr id="7" name="Text Placeholder 6">
            <a:extLst>
              <a:ext uri="{FF2B5EF4-FFF2-40B4-BE49-F238E27FC236}">
                <a16:creationId xmlns:a16="http://schemas.microsoft.com/office/drawing/2014/main" id="{31F0E864-A8FA-4890-9AA7-9F3E2101A01F}"/>
              </a:ext>
            </a:extLst>
          </p:cNvPr>
          <p:cNvSpPr>
            <a:spLocks noGrp="1"/>
          </p:cNvSpPr>
          <p:nvPr>
            <p:ph type="body" sz="quarter" idx="13"/>
          </p:nvPr>
        </p:nvSpPr>
        <p:spPr>
          <a:xfrm>
            <a:off x="32918400" y="6057900"/>
            <a:ext cx="10058400" cy="1143000"/>
          </a:xfrm>
        </p:spPr>
        <p:txBody>
          <a:bodyPr/>
          <a:lstStyle/>
          <a:p>
            <a:endParaRPr lang="en-US"/>
          </a:p>
        </p:txBody>
      </p:sp>
      <p:sp>
        <p:nvSpPr>
          <p:cNvPr id="8" name="Text Placeholder 7">
            <a:extLst>
              <a:ext uri="{FF2B5EF4-FFF2-40B4-BE49-F238E27FC236}">
                <a16:creationId xmlns:a16="http://schemas.microsoft.com/office/drawing/2014/main" id="{081E2E4F-4653-4FC9-8D15-2861B2A72D85}"/>
              </a:ext>
            </a:extLst>
          </p:cNvPr>
          <p:cNvSpPr>
            <a:spLocks noGrp="1"/>
          </p:cNvSpPr>
          <p:nvPr>
            <p:ph type="body" sz="quarter" idx="14"/>
          </p:nvPr>
        </p:nvSpPr>
        <p:spPr>
          <a:xfrm>
            <a:off x="914400" y="18427148"/>
            <a:ext cx="10058400" cy="8686800"/>
          </a:xfrm>
        </p:spPr>
        <p:txBody>
          <a:bodyPr>
            <a:noAutofit/>
          </a:bodyPr>
          <a:lstStyle/>
          <a:p>
            <a:r>
              <a:rPr lang="en-US" sz="4600" dirty="0"/>
              <a:t>This project applied a range of machine learning techniques to analyze and predict cancer death rates. Regression models, including Linear Regression, Decision Trees, Support Vector Regression, Random Forest, and Neural Networks, were used to predict 2023 rates from historical data. Classification was performed using a Support Vector Machine to group states into risk categories. Additionally, K-Means clustering was used to identify patterns among states, while Principal Component Analysis (PCA) reduced the data to its most important features. Outliers were detected using Z-scores to highlight unusual trends in specific states.</a:t>
            </a:r>
          </a:p>
        </p:txBody>
      </p:sp>
      <p:sp>
        <p:nvSpPr>
          <p:cNvPr id="9" name="Text Placeholder 8">
            <a:extLst>
              <a:ext uri="{FF2B5EF4-FFF2-40B4-BE49-F238E27FC236}">
                <a16:creationId xmlns:a16="http://schemas.microsoft.com/office/drawing/2014/main" id="{AA3C5EF7-7632-426A-B8E7-2222FA83FF74}"/>
              </a:ext>
            </a:extLst>
          </p:cNvPr>
          <p:cNvSpPr>
            <a:spLocks noGrp="1"/>
          </p:cNvSpPr>
          <p:nvPr>
            <p:ph type="body" sz="quarter" idx="15"/>
          </p:nvPr>
        </p:nvSpPr>
        <p:spPr/>
        <p:txBody>
          <a:bodyPr/>
          <a:lstStyle/>
          <a:p>
            <a:r>
              <a:rPr lang="en-US" dirty="0"/>
              <a:t>Methods</a:t>
            </a:r>
          </a:p>
        </p:txBody>
      </p:sp>
      <p:sp>
        <p:nvSpPr>
          <p:cNvPr id="10" name="Text Placeholder 9">
            <a:extLst>
              <a:ext uri="{FF2B5EF4-FFF2-40B4-BE49-F238E27FC236}">
                <a16:creationId xmlns:a16="http://schemas.microsoft.com/office/drawing/2014/main" id="{CAB35C23-DD9B-427C-8059-8D581E02AC81}"/>
              </a:ext>
            </a:extLst>
          </p:cNvPr>
          <p:cNvSpPr>
            <a:spLocks noGrp="1"/>
          </p:cNvSpPr>
          <p:nvPr>
            <p:ph type="body" sz="quarter" idx="16"/>
          </p:nvPr>
        </p:nvSpPr>
        <p:spPr>
          <a:xfrm>
            <a:off x="914400" y="31260256"/>
            <a:ext cx="20574000" cy="1313656"/>
          </a:xfrm>
        </p:spPr>
        <p:txBody>
          <a:bodyPr/>
          <a:lstStyle/>
          <a:p>
            <a:r>
              <a:rPr lang="en-US" dirty="0">
                <a:hlinkClick r:id="rId2"/>
              </a:rPr>
              <a:t>https://www.cdc.gov/nchs/state-stats/deaths/cancer.html</a:t>
            </a:r>
            <a:endParaRPr lang="en-US" dirty="0"/>
          </a:p>
        </p:txBody>
      </p:sp>
      <p:sp>
        <p:nvSpPr>
          <p:cNvPr id="11" name="Text Placeholder 10">
            <a:extLst>
              <a:ext uri="{FF2B5EF4-FFF2-40B4-BE49-F238E27FC236}">
                <a16:creationId xmlns:a16="http://schemas.microsoft.com/office/drawing/2014/main" id="{A7C99547-1A00-4B68-815A-0772F4529118}"/>
              </a:ext>
            </a:extLst>
          </p:cNvPr>
          <p:cNvSpPr>
            <a:spLocks noGrp="1"/>
          </p:cNvSpPr>
          <p:nvPr>
            <p:ph type="body" sz="quarter" idx="17"/>
          </p:nvPr>
        </p:nvSpPr>
        <p:spPr>
          <a:xfrm>
            <a:off x="914399" y="29359887"/>
            <a:ext cx="31089601" cy="1537237"/>
          </a:xfrm>
        </p:spPr>
        <p:txBody>
          <a:bodyPr/>
          <a:lstStyle/>
          <a:p>
            <a:r>
              <a:rPr lang="en-US" dirty="0"/>
              <a:t>Resources</a:t>
            </a:r>
          </a:p>
        </p:txBody>
      </p:sp>
      <p:sp>
        <p:nvSpPr>
          <p:cNvPr id="12" name="Text Placeholder 11">
            <a:extLst>
              <a:ext uri="{FF2B5EF4-FFF2-40B4-BE49-F238E27FC236}">
                <a16:creationId xmlns:a16="http://schemas.microsoft.com/office/drawing/2014/main" id="{16F2A830-7038-4FAF-A4C6-D9B77B8BC357}"/>
              </a:ext>
            </a:extLst>
          </p:cNvPr>
          <p:cNvSpPr>
            <a:spLocks noGrp="1"/>
          </p:cNvSpPr>
          <p:nvPr>
            <p:ph type="body" sz="quarter" idx="19"/>
          </p:nvPr>
        </p:nvSpPr>
        <p:spPr>
          <a:xfrm>
            <a:off x="11887200" y="6067839"/>
            <a:ext cx="20116800" cy="1143000"/>
          </a:xfrm>
        </p:spPr>
        <p:txBody>
          <a:bodyPr/>
          <a:lstStyle/>
          <a:p>
            <a:endParaRPr lang="en-US"/>
          </a:p>
        </p:txBody>
      </p:sp>
      <p:sp>
        <p:nvSpPr>
          <p:cNvPr id="13" name="Text Placeholder 12">
            <a:extLst>
              <a:ext uri="{FF2B5EF4-FFF2-40B4-BE49-F238E27FC236}">
                <a16:creationId xmlns:a16="http://schemas.microsoft.com/office/drawing/2014/main" id="{E38600CE-F4F2-4F2B-B7DB-2352EBDAE832}"/>
              </a:ext>
            </a:extLst>
          </p:cNvPr>
          <p:cNvSpPr>
            <a:spLocks noGrp="1"/>
          </p:cNvSpPr>
          <p:nvPr>
            <p:ph type="body" sz="quarter" idx="20"/>
          </p:nvPr>
        </p:nvSpPr>
        <p:spPr>
          <a:xfrm>
            <a:off x="32918400" y="29896459"/>
            <a:ext cx="10058400" cy="1435759"/>
          </a:xfrm>
        </p:spPr>
        <p:txBody>
          <a:bodyPr/>
          <a:lstStyle/>
          <a:p>
            <a:r>
              <a:rPr lang="en-US" dirty="0">
                <a:hlinkClick r:id="rId3"/>
              </a:rPr>
              <a:t>https://github.com/Cmeacham27/Machine-Learning-Final</a:t>
            </a:r>
            <a:endParaRPr lang="en-US" dirty="0"/>
          </a:p>
          <a:p>
            <a:endParaRPr lang="en-US" dirty="0"/>
          </a:p>
        </p:txBody>
      </p:sp>
      <p:sp>
        <p:nvSpPr>
          <p:cNvPr id="14" name="Text Placeholder 13">
            <a:extLst>
              <a:ext uri="{FF2B5EF4-FFF2-40B4-BE49-F238E27FC236}">
                <a16:creationId xmlns:a16="http://schemas.microsoft.com/office/drawing/2014/main" id="{3232D8AA-F349-412F-869B-497A22B45618}"/>
              </a:ext>
            </a:extLst>
          </p:cNvPr>
          <p:cNvSpPr>
            <a:spLocks noGrp="1"/>
          </p:cNvSpPr>
          <p:nvPr>
            <p:ph type="body" sz="quarter" idx="21"/>
          </p:nvPr>
        </p:nvSpPr>
        <p:spPr>
          <a:xfrm>
            <a:off x="32918400" y="27793266"/>
            <a:ext cx="10058400" cy="1143000"/>
          </a:xfrm>
        </p:spPr>
        <p:txBody>
          <a:bodyPr/>
          <a:lstStyle/>
          <a:p>
            <a:r>
              <a:rPr lang="en-US" dirty="0"/>
              <a:t>GitHub Repository</a:t>
            </a:r>
          </a:p>
        </p:txBody>
      </p:sp>
      <p:pic>
        <p:nvPicPr>
          <p:cNvPr id="19" name="Content Placeholder 18">
            <a:extLst>
              <a:ext uri="{FF2B5EF4-FFF2-40B4-BE49-F238E27FC236}">
                <a16:creationId xmlns:a16="http://schemas.microsoft.com/office/drawing/2014/main" id="{771EF309-6731-51E0-7581-E453B15C3483}"/>
              </a:ext>
            </a:extLst>
          </p:cNvPr>
          <p:cNvPicPr>
            <a:picLocks noGrp="1" noChangeAspect="1"/>
          </p:cNvPicPr>
          <p:nvPr>
            <p:ph sz="quarter" idx="24"/>
          </p:nvPr>
        </p:nvPicPr>
        <p:blipFill>
          <a:blip r:embed="rId4">
            <a:extLst>
              <a:ext uri="{28A0092B-C50C-407E-A947-70E740481C1C}">
                <a14:useLocalDpi xmlns:a14="http://schemas.microsoft.com/office/drawing/2010/main" val="0"/>
              </a:ext>
            </a:extLst>
          </a:blip>
          <a:stretch>
            <a:fillRect/>
          </a:stretch>
        </p:blipFill>
        <p:spPr>
          <a:xfrm>
            <a:off x="1411288" y="929756"/>
            <a:ext cx="3955842" cy="3955842"/>
          </a:xfrm>
          <a:prstGeom prst="rect">
            <a:avLst/>
          </a:prstGeom>
        </p:spPr>
      </p:pic>
      <p:pic>
        <p:nvPicPr>
          <p:cNvPr id="25" name="Picture 24">
            <a:extLst>
              <a:ext uri="{FF2B5EF4-FFF2-40B4-BE49-F238E27FC236}">
                <a16:creationId xmlns:a16="http://schemas.microsoft.com/office/drawing/2014/main" id="{0431AC1B-677A-8D59-2EA5-68BB1F0DD416}"/>
              </a:ext>
            </a:extLst>
          </p:cNvPr>
          <p:cNvPicPr>
            <a:picLocks noChangeAspect="1"/>
          </p:cNvPicPr>
          <p:nvPr/>
        </p:nvPicPr>
        <p:blipFill>
          <a:blip r:embed="rId5"/>
          <a:stretch>
            <a:fillRect/>
          </a:stretch>
        </p:blipFill>
        <p:spPr>
          <a:xfrm>
            <a:off x="10972800" y="18191458"/>
            <a:ext cx="20916900" cy="10744808"/>
          </a:xfrm>
          <a:prstGeom prst="rect">
            <a:avLst/>
          </a:prstGeom>
        </p:spPr>
      </p:pic>
      <p:pic>
        <p:nvPicPr>
          <p:cNvPr id="27" name="Picture 26">
            <a:extLst>
              <a:ext uri="{FF2B5EF4-FFF2-40B4-BE49-F238E27FC236}">
                <a16:creationId xmlns:a16="http://schemas.microsoft.com/office/drawing/2014/main" id="{9C50BE0F-C473-030A-66CB-0DB29358D0A1}"/>
              </a:ext>
            </a:extLst>
          </p:cNvPr>
          <p:cNvPicPr>
            <a:picLocks noChangeAspect="1"/>
          </p:cNvPicPr>
          <p:nvPr/>
        </p:nvPicPr>
        <p:blipFill>
          <a:blip r:embed="rId6"/>
          <a:stretch>
            <a:fillRect/>
          </a:stretch>
        </p:blipFill>
        <p:spPr>
          <a:xfrm>
            <a:off x="11887200" y="7881764"/>
            <a:ext cx="20002500" cy="10043458"/>
          </a:xfrm>
          <a:prstGeom prst="rect">
            <a:avLst/>
          </a:prstGeom>
        </p:spPr>
      </p:pic>
      <p:sp>
        <p:nvSpPr>
          <p:cNvPr id="28" name="TextBox 27">
            <a:extLst>
              <a:ext uri="{FF2B5EF4-FFF2-40B4-BE49-F238E27FC236}">
                <a16:creationId xmlns:a16="http://schemas.microsoft.com/office/drawing/2014/main" id="{17CAB5F6-1089-B573-892C-48B1F57AA420}"/>
              </a:ext>
            </a:extLst>
          </p:cNvPr>
          <p:cNvSpPr txBox="1"/>
          <p:nvPr/>
        </p:nvSpPr>
        <p:spPr>
          <a:xfrm>
            <a:off x="10654748" y="3801269"/>
            <a:ext cx="22263652" cy="1246495"/>
          </a:xfrm>
          <a:prstGeom prst="rect">
            <a:avLst/>
          </a:prstGeom>
          <a:noFill/>
        </p:spPr>
        <p:txBody>
          <a:bodyPr wrap="square" rtlCol="0">
            <a:spAutoFit/>
          </a:bodyPr>
          <a:lstStyle/>
          <a:p>
            <a:pPr algn="ctr"/>
            <a:r>
              <a:rPr lang="en-US" sz="7500" dirty="0">
                <a:solidFill>
                  <a:schemeClr val="bg1"/>
                </a:solidFill>
              </a:rPr>
              <a:t>Cael Meacham</a:t>
            </a:r>
          </a:p>
        </p:txBody>
      </p:sp>
    </p:spTree>
    <p:extLst>
      <p:ext uri="{BB962C8B-B14F-4D97-AF65-F5344CB8AC3E}">
        <p14:creationId xmlns:p14="http://schemas.microsoft.com/office/powerpoint/2010/main" val="2328655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Research Poster">
      <a:majorFont>
        <a:latin typeface="Helvetica"/>
        <a:ea typeface=""/>
        <a:cs typeface=""/>
      </a:majorFont>
      <a:minorFont>
        <a:latin typeface="Garamond"/>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mple_nw_green" id="{8A0CC076-DF9E-4991-A331-C72B7732392D}" vid="{A32A041A-A5FE-4424-9FAA-80AF5BFF47C9}"/>
    </a:ext>
  </a:extLst>
</a:theme>
</file>

<file path=docProps/app.xml><?xml version="1.0" encoding="utf-8"?>
<Properties xmlns="http://schemas.openxmlformats.org/officeDocument/2006/extended-properties" xmlns:vt="http://schemas.openxmlformats.org/officeDocument/2006/docPropsVTypes">
  <Template>simple_nw_green</Template>
  <TotalTime>47</TotalTime>
  <Words>407</Words>
  <Application>Microsoft Office PowerPoint</Application>
  <PresentationFormat>Custom</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Garamond</vt:lpstr>
      <vt:lpstr>Helvetica</vt:lpstr>
      <vt:lpstr>Office Theme</vt:lpstr>
      <vt:lpstr>United States of America Cancer Death Rate Trends  From 2014-2023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Meacham,Cael B</dc:creator>
  <cp:lastModifiedBy>Meacham,Cael B</cp:lastModifiedBy>
  <cp:revision>1</cp:revision>
  <dcterms:created xsi:type="dcterms:W3CDTF">2026-04-22T20:09:02Z</dcterms:created>
  <dcterms:modified xsi:type="dcterms:W3CDTF">2026-04-22T21:10:39Z</dcterms:modified>
</cp:coreProperties>
</file>